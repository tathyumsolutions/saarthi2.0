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image" Target="../media/image5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6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0813" y="2661344"/>
            <a:ext cx="2990373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0" i="0" u="none">
                <a:solidFill>
                  <a:srgbClr val="FFFFFF"/>
                </a:solidFill>
                <a:latin typeface="Plus Jakarta Sans ExtraBold"/>
              </a:rPr>
              <a:t>SAARTHI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19475" y="3568005"/>
            <a:ext cx="53530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Inter Medium"/>
              </a:rPr>
              <a:t>The Governed AI Layer for Enterprise Intelligence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031" y="2156519"/>
            <a:ext cx="2547937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0" y="4420492"/>
            <a:ext cx="1714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14950" y="4415730"/>
            <a:ext cx="253060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F8FAFC"/>
                </a:solidFill>
                <a:latin typeface="Inter SemiBold"/>
              </a:rPr>
              <a:t>TATHYUM </a:t>
            </a:r>
            <a:r>
              <a:rPr lang="en-US" sz="1050" b="0" i="0" u="none" dirty="0">
                <a:solidFill>
                  <a:srgbClr val="F8FAFC"/>
                </a:solidFill>
                <a:latin typeface="Inter SemiBold"/>
              </a:rPr>
              <a:t> SOLUTIONS PRIVATE LIMITED</a:t>
            </a:r>
            <a:endParaRPr sz="1050" b="0" i="0" u="none" dirty="0">
              <a:solidFill>
                <a:srgbClr val="F8FAFC"/>
              </a:solidFill>
              <a:latin typeface="Inter SemiBold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956" y="2237482"/>
            <a:ext cx="128587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28825"/>
            <a:ext cx="2643187" cy="1900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612" y="2028825"/>
            <a:ext cx="2643187" cy="1900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28825"/>
            <a:ext cx="2643187" cy="1900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787" y="2028825"/>
            <a:ext cx="2643187" cy="19002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081462"/>
            <a:ext cx="2643187" cy="19002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612" y="4081462"/>
            <a:ext cx="2643187" cy="19002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081462"/>
            <a:ext cx="2643187" cy="190023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7787" y="4081462"/>
            <a:ext cx="2643187" cy="19002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Why Saarthi?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1025" y="1571625"/>
            <a:ext cx="11029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Do you want to adopt AI without losing control of costs, security, and governance?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26695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9150" y="2876550"/>
            <a:ext cx="227528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AI Cost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3133725"/>
            <a:ext cx="216693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Control LLM subscription &amp; API token cost overheads effortlessly.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4737" y="226695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14737" y="2876550"/>
            <a:ext cx="227528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Data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4737" y="3133725"/>
            <a:ext cx="216693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Prevent confidential data leakage to third-party AI endpoints.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325" y="2266950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10325" y="2876550"/>
            <a:ext cx="227528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Break Data Silos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5" y="3133725"/>
            <a:ext cx="2166937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Gain a unified 360° intelligence view across fragmented enterprise systems.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5912" y="226695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05912" y="2876550"/>
            <a:ext cx="227528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200" b="1" dirty="0">
                <a:solidFill>
                  <a:srgbClr val="FFFFFF"/>
                </a:solidFill>
                <a:latin typeface="Plus Jakarta Sans"/>
              </a:rPr>
              <a:t>Autonomous Schema Discovery</a:t>
            </a:r>
            <a:endParaRPr sz="12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05912" y="3133725"/>
            <a:ext cx="2166937" cy="562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62"/>
              </a:lnSpc>
            </a:pPr>
            <a:r>
              <a:rPr lang="en-US" sz="975" dirty="0">
                <a:solidFill>
                  <a:srgbClr val="94A3B8"/>
                </a:solidFill>
                <a:latin typeface="Inter"/>
              </a:rPr>
              <a:t>Agent dynamically maps data relationships and learns the underlying schema on the fly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4319587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9150" y="4929187"/>
            <a:ext cx="227528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Traceability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50" y="5186362"/>
            <a:ext cx="2166937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Complete observability and lineage tracing for every AI generated response.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4737" y="4319587"/>
            <a:ext cx="457200" cy="457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14737" y="4929187"/>
            <a:ext cx="227528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Access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4737" y="5186362"/>
            <a:ext cx="216693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Automatic Role-Based Access Control (RBAC) enforced natively.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325" y="4319587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10325" y="4929187"/>
            <a:ext cx="227528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Active 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0325" y="5186362"/>
            <a:ext cx="216693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Active policy guardrails operating directly in runtime execution.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5912" y="4319587"/>
            <a:ext cx="457200" cy="457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05912" y="4929187"/>
            <a:ext cx="227528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Dynamic BI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5912" y="5186362"/>
            <a:ext cx="216693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Instant conversational insights without steep learning curves.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500" y="2400300"/>
            <a:ext cx="190500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24275" y="2400300"/>
            <a:ext cx="238125" cy="1905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9387" y="2400300"/>
            <a:ext cx="219075" cy="190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15450" y="2400300"/>
            <a:ext cx="238125" cy="1905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2025" y="4452937"/>
            <a:ext cx="171450" cy="1905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33800" y="4452937"/>
            <a:ext cx="219075" cy="190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3675" y="4452937"/>
            <a:ext cx="190500" cy="1905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39262" y="4452937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93143"/>
            <a:ext cx="11029950" cy="5000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021806"/>
            <a:ext cx="5372100" cy="2200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3021806"/>
            <a:ext cx="5372100" cy="2200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Control AI Infrastructure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8572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050" y="2436018"/>
            <a:ext cx="10629900" cy="214312"/>
          </a:xfrm>
          <a:prstGeom prst="rect">
            <a:avLst/>
          </a:prstGeom>
          <a:noFill/>
        </p:spPr>
        <p:txBody>
          <a:bodyPr wrap="square" lIns="187374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0A5FA"/>
                </a:solidFill>
                <a:latin typeface="Inter SemiBold"/>
              </a:rPr>
              <a:t>Executive Value: Enterprise AI economics shift from variable operational expenditure to optimized, controllable infrastructure assets.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2474118"/>
            <a:ext cx="111174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150" y="3640931"/>
            <a:ext cx="48958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FCA5A5"/>
                </a:solidFill>
                <a:latin typeface="Inter SemiBold"/>
              </a:rPr>
              <a:t>VARIABLE TOKEN METERING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640931"/>
            <a:ext cx="48958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0A5FA"/>
                </a:solidFill>
                <a:latin typeface="Inter SemiBold"/>
              </a:rPr>
              <a:t>SELF-HOSTED / OPEN-SOURCE MODELS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259931"/>
            <a:ext cx="177849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2249" y="3264693"/>
            <a:ext cx="161520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Public API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3940968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Unpredictable cost scaling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with expanding user adoption.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" y="4288631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Vendor lock-in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and sudden pricing policy shifts.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" y="4636293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High token overhead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for large enterprise contexts.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3259931"/>
            <a:ext cx="177849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50099" y="3264693"/>
            <a:ext cx="190461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Saarthi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3700" y="3940968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Predictable, fixed infrastructure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cost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3700" y="4288631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Model-agnostic flexibility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(LLaMA, Mistral, Custom LLMs).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3700" y="4636293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Scalable safely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across thousands of enterprise employees.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3960018"/>
            <a:ext cx="103733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4307681"/>
            <a:ext cx="103733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4655343"/>
            <a:ext cx="103733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3960018"/>
            <a:ext cx="103733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4307681"/>
            <a:ext cx="103733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4655343"/>
            <a:ext cx="103733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681162"/>
            <a:ext cx="5372100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Keep Control of Your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2424112"/>
            <a:ext cx="56407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Why should confidential data leave your enterprise?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690687"/>
            <a:ext cx="5353050" cy="4171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2881312"/>
            <a:ext cx="5105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Zero Data Leakage: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No enterprise data or prompts sent to public 3rd-party APIs.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443287"/>
            <a:ext cx="5105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Flexible Deployment: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Native support for On-Premise, Private Cloud (VPC), and Air-gapped environments.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005262"/>
            <a:ext cx="5105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Direct Connectivity: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Connects securely to ERP, Databases, APIs, Excel, and Unstructured Documents.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567237"/>
            <a:ext cx="5105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Security Guarantee: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Intelligence is brought to your data—your data is never sent out for intelligence.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900362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462337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24312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586287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145631"/>
            <a:ext cx="2614612" cy="1733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137" y="3145631"/>
            <a:ext cx="2614612" cy="1733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3145631"/>
            <a:ext cx="2614612" cy="1733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362" y="3145631"/>
            <a:ext cx="2614612" cy="1733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Break Enterprise Data Silos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1025" y="5107781"/>
            <a:ext cx="110299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1" u="none">
                <a:solidFill>
                  <a:srgbClr val="64748B"/>
                </a:solidFill>
                <a:latin typeface="Inter"/>
              </a:rPr>
              <a:t>"Your data is connected by the business. Saarthi connects it for AI."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725" y="2231231"/>
            <a:ext cx="2114550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2602706"/>
            <a:ext cx="11029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Performs cross-source reasoning to deliver a true 360° Business View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650" y="2312193"/>
            <a:ext cx="157162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9731" y="3383756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5690" y="3993356"/>
            <a:ext cx="224528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Structured DBs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4269581"/>
            <a:ext cx="21383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SAP, Oracle, Postgres, SQL Warehouses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843" y="3383756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70803" y="3993356"/>
            <a:ext cx="224528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APIs &amp;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4262" y="4269581"/>
            <a:ext cx="21383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REST, GraphQL, CRM, ERP Workflows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956" y="3383756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75915" y="3993356"/>
            <a:ext cx="224528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Spreadsheets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4269581"/>
            <a:ext cx="21383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Excel, CSVs, Financial Models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5068" y="3383756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1028" y="3993356"/>
            <a:ext cx="224528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Documents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4487" y="4269581"/>
            <a:ext cx="21383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PDFs, Contracts, SOPs, Manuals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2606" y="3517106"/>
            <a:ext cx="17145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2006" y="3517106"/>
            <a:ext cx="142875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7118" y="3517106"/>
            <a:ext cx="142875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32231" y="3517106"/>
            <a:ext cx="1428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181600"/>
            <a:ext cx="11029950" cy="4143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Role-Based Access Control (RBAC)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1957387"/>
            <a:ext cx="11029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Same AI Interface. Automated, granular role governance enforced universally.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1025" y="2376487"/>
          <a:ext cx="11010898" cy="265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8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0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54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Role / Stakeholder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Accessible Context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Enforced RBAC Governance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5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0A5FA"/>
                          </a:solidFill>
                          <a:latin typeface="Inter"/>
                        </a:rPr>
                        <a:t>Chief Financial Officer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Enterprise P&amp;L, Group Financials, Revenue Models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0B981"/>
                          </a:solidFill>
                          <a:latin typeface="Inter SemiBold"/>
                        </a:rPr>
                        <a:t>Full Executive Visibility Across Entities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5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0A5FA"/>
                          </a:solidFill>
                          <a:latin typeface="Inter"/>
                        </a:rPr>
                        <a:t>Plant Manager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Plant-level Output, Operational Metrics, Inventory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Restricted strictly to Designated Facility Context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5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0A5FA"/>
                          </a:solidFill>
                          <a:latin typeface="Inter"/>
                        </a:rPr>
                        <a:t>Sales Head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Regional Accounts, Pipeline Status, Client Contracts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Territory &amp; Account-level Data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54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0A5FA"/>
                          </a:solidFill>
                          <a:latin typeface="Inter"/>
                        </a:rPr>
                        <a:t>HR Business Partner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Authorized Headcount, Band Pay Ranges, Payroll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Strict PII &amp; Sensitive Employee Filters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90550" y="2905125"/>
            <a:ext cx="22416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32199" y="2905125"/>
            <a:ext cx="45383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70564" y="2905125"/>
            <a:ext cx="42308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5325" y="5295900"/>
            <a:ext cx="10801350" cy="185737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1" i="0" u="none">
                <a:solidFill>
                  <a:srgbClr val="94A3B8"/>
                </a:solidFill>
                <a:latin typeface="Inter"/>
              </a:rPr>
              <a:t>Configured Once, Reused Universally: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Existing security policies automatically restrict AI outputs without custom prompts.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550" y="3433762"/>
            <a:ext cx="22416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32199" y="3433762"/>
            <a:ext cx="45383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70564" y="3433762"/>
            <a:ext cx="42308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0550" y="3962400"/>
            <a:ext cx="22416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32199" y="3962400"/>
            <a:ext cx="45383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0564" y="3962400"/>
            <a:ext cx="42308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0550" y="4491037"/>
            <a:ext cx="22416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32199" y="4491037"/>
            <a:ext cx="45383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70564" y="4491037"/>
            <a:ext cx="42308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587" y="5324475"/>
            <a:ext cx="10477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183731"/>
            <a:ext cx="5372100" cy="125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3183731"/>
            <a:ext cx="5372100" cy="1257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Control Automation Bias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1025" y="2669381"/>
            <a:ext cx="11029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Inter SemiBold"/>
              </a:rPr>
              <a:t>"Trust should come from evidence, not confidence."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669631"/>
            <a:ext cx="11029950" cy="214312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AI should accelerate decision-making—not replace human judgment.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312" y="4698206"/>
            <a:ext cx="104775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150" y="3802856"/>
            <a:ext cx="4895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AI outputs accepted blindly without evidence, lineage, or verifiable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802856"/>
            <a:ext cx="4895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Trust derived from explicit source evidence, data lineage tracing, and continuous verification.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3421856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3426618"/>
            <a:ext cx="248031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Unchecked Automation Bias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3421856"/>
            <a:ext cx="200025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2275" y="3426618"/>
            <a:ext cx="257032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Saarthi Governed Framework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12256"/>
            <a:ext cx="1363414" cy="938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089" y="2812256"/>
            <a:ext cx="1363414" cy="938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3153" y="2812256"/>
            <a:ext cx="1363414" cy="9382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218" y="2812256"/>
            <a:ext cx="1363414" cy="9382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5282" y="2812256"/>
            <a:ext cx="1363414" cy="9382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6347" y="2812256"/>
            <a:ext cx="1363414" cy="9382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7411" y="2812256"/>
            <a:ext cx="1363414" cy="93821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4131468"/>
            <a:ext cx="5372100" cy="1123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8875" y="4131468"/>
            <a:ext cx="5372100" cy="1123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Complete Observability &amp; Traceability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025" y="2297906"/>
            <a:ext cx="11029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Reconstruct precisely how every AI response was generated.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20639" y="3205162"/>
            <a:ext cx="952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1703" y="3205162"/>
            <a:ext cx="952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2768" y="3205162"/>
            <a:ext cx="952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3832" y="3205162"/>
            <a:ext cx="952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4897" y="3205162"/>
            <a:ext cx="952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75961" y="3205162"/>
            <a:ext cx="952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8357" y="2974181"/>
            <a:ext cx="2286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6955" y="3278981"/>
            <a:ext cx="117155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3431381"/>
            <a:ext cx="1115764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User Prompt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59422" y="2974181"/>
            <a:ext cx="228600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88020" y="3278981"/>
            <a:ext cx="117155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Identity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15914" y="3431381"/>
            <a:ext cx="1115764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RBAC Check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70486" y="2974181"/>
            <a:ext cx="228600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899084" y="3278981"/>
            <a:ext cx="117155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26978" y="3431381"/>
            <a:ext cx="1115764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Guardrails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81551" y="2974181"/>
            <a:ext cx="228600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10149" y="3278981"/>
            <a:ext cx="117155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Retrieval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8043" y="3431381"/>
            <a:ext cx="1115764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Data Fabric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92615" y="2974181"/>
            <a:ext cx="228600" cy="228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121213" y="3278981"/>
            <a:ext cx="117155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9107" y="3431381"/>
            <a:ext cx="1115764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Execution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03680" y="2974181"/>
            <a:ext cx="228600" cy="228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32278" y="3278981"/>
            <a:ext cx="117155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Trace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0172" y="3431381"/>
            <a:ext cx="1115764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Reasoning Log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14744" y="2974181"/>
            <a:ext cx="228600" cy="228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343342" y="3278981"/>
            <a:ext cx="117155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1236" y="3431381"/>
            <a:ext cx="1115764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10B981"/>
                </a:solidFill>
                <a:latin typeface="Inter"/>
              </a:rPr>
              <a:t>Answer + 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150" y="4369593"/>
            <a:ext cx="514064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Plus Jakarta Sans"/>
              </a:rPr>
              <a:t>Explainable &amp; Attributable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150" y="4645818"/>
            <a:ext cx="48958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Inspect exact data sources, transformation queries, and model version details for any answer.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0" y="4369593"/>
            <a:ext cx="514064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Plus Jakarta Sans"/>
              </a:rPr>
              <a:t>Enterprise Audit Trail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0" y="4645818"/>
            <a:ext cx="48958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Log all user interactions, policy decisions, and feedback loops for compliance.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367557"/>
            <a:ext cx="5372100" cy="28180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Embedded Governance &amp;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377082"/>
            <a:ext cx="5353050" cy="27990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371576"/>
            <a:ext cx="5105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Input Layer: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Prompt Injection &amp; PII Filtering blocks malicious or non-compliant queries.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933551"/>
            <a:ext cx="5105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Query Layer: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Constrained Schema Access restricts AI data exploration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495526"/>
            <a:ext cx="5105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Access Layer: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Contextual RBAC Enforcement injects row/column level entitlements.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057501"/>
            <a:ext cx="5105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Output Layer: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Toxic Content &amp; Hallucination Checks ensure fact-grounded outputs.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619476"/>
            <a:ext cx="5105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Observability: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Continuous Performance Audit with telemetry into latency and accuracy.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390626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952601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14576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76551"/>
            <a:ext cx="1143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638526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05137"/>
            <a:ext cx="5372100" cy="1543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3005137"/>
            <a:ext cx="5372100" cy="1543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From Static BI to Ask-and-Analyze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9150" y="3243262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7171"/>
                </a:solidFill>
                <a:latin typeface="Plus Jakarta Sans"/>
              </a:rPr>
              <a:t>Traditional BI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576637"/>
            <a:ext cx="4895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High learning curve &amp; long turnaround time (TAT).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3243262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Plus Jakarta Sans"/>
              </a:rPr>
              <a:t>Saarthi Dynamic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576637"/>
            <a:ext cx="4895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Instant conversational intelligence with cryptographic proof.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" y="4062412"/>
            <a:ext cx="12382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300" y="4062412"/>
            <a:ext cx="10477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The Saarthi Difference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2450306"/>
          <a:ext cx="11010899" cy="265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9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54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Enterprise Requirement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Generic AI Tooling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Saarthi Governed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5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Inter"/>
                        </a:rPr>
                        <a:t>Cost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CA5A5"/>
                          </a:solidFill>
                          <a:latin typeface="Inter"/>
                        </a:rPr>
                        <a:t>Variable API token costs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4D399"/>
                          </a:solidFill>
                          <a:latin typeface="Inter SemiBold"/>
                        </a:rPr>
                        <a:t>Open-source / Model-agnostic infra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5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Inter"/>
                        </a:rPr>
                        <a:t>Data Sovereignty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CA5A5"/>
                          </a:solidFill>
                          <a:latin typeface="Inter"/>
                        </a:rPr>
                        <a:t>Third-party API dependency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4D399"/>
                          </a:solidFill>
                          <a:latin typeface="Inter SemiBold"/>
                        </a:rPr>
                        <a:t>On-premise / VPC air-gapped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5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Inter"/>
                        </a:rPr>
                        <a:t>Granular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CA5A5"/>
                          </a:solidFill>
                          <a:latin typeface="Inter"/>
                        </a:rPr>
                        <a:t>Single prompt context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4D399"/>
                          </a:solidFill>
                          <a:latin typeface="Inter SemiBold"/>
                        </a:rPr>
                        <a:t>Enterprise RBAC enforcement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54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Inter"/>
                        </a:rPr>
                        <a:t>Audit &amp; Traceability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CA5A5"/>
                          </a:solidFill>
                          <a:latin typeface="Inter"/>
                        </a:rPr>
                        <a:t>Black-box outputs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4D399"/>
                          </a:solidFill>
                          <a:latin typeface="Inter SemiBold"/>
                        </a:rPr>
                        <a:t>Full reasoning &amp; lineage logs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0550" y="2978943"/>
            <a:ext cx="307717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67720" y="2978943"/>
            <a:ext cx="35293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97030" y="2978943"/>
            <a:ext cx="440441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550" y="3507581"/>
            <a:ext cx="307717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67720" y="3507581"/>
            <a:ext cx="35293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97030" y="3507581"/>
            <a:ext cx="440441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0550" y="4036218"/>
            <a:ext cx="307717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67720" y="4036218"/>
            <a:ext cx="35293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97030" y="4036218"/>
            <a:ext cx="440441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0550" y="4564856"/>
            <a:ext cx="307717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67720" y="4564856"/>
            <a:ext cx="35293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97030" y="4564856"/>
            <a:ext cx="440441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05087"/>
            <a:ext cx="3524250" cy="2343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605087"/>
            <a:ext cx="3524250" cy="2343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725" y="2605087"/>
            <a:ext cx="3524250" cy="2343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Measurable Business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919412"/>
            <a:ext cx="5715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2944" y="3681412"/>
            <a:ext cx="328041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60A5FA"/>
                </a:solidFill>
                <a:latin typeface="Plus Jakarta Sans"/>
              </a:rPr>
              <a:t>Predictable Economics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4033837"/>
            <a:ext cx="3124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Controlled infrastructure deployment replacing unpredictable per-token pricing models.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0" y="2919412"/>
            <a:ext cx="571500" cy="571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55795" y="3681412"/>
            <a:ext cx="328041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60A5FA"/>
                </a:solidFill>
                <a:latin typeface="Plus Jakarta Sans"/>
              </a:rPr>
              <a:t>Data Democratization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3900" y="4033837"/>
            <a:ext cx="3124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Empower workforce with natural language data access protected by enterprise RBAC.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3100" y="2919412"/>
            <a:ext cx="5715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08645" y="3681412"/>
            <a:ext cx="328041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60A5FA"/>
                </a:solidFill>
                <a:latin typeface="Plus Jakarta Sans"/>
              </a:rPr>
              <a:t>Accelerated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0" y="4033837"/>
            <a:ext cx="3124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From multi-day BI turnaround requests to immediate, evidence-backed conversational answers.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5037" y="3081337"/>
            <a:ext cx="27622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8837" y="3081337"/>
            <a:ext cx="3143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5025" y="3081337"/>
            <a:ext cx="2476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150" y="3938587"/>
            <a:ext cx="1590675" cy="390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225" y="3938587"/>
            <a:ext cx="1562100" cy="390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3938587"/>
            <a:ext cx="1533525" cy="390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7650" y="3938587"/>
            <a:ext cx="1600200" cy="390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2100" y="1919287"/>
            <a:ext cx="1447800" cy="276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95662" y="2386012"/>
            <a:ext cx="5400675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Experience Saarthi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4125" y="3119437"/>
            <a:ext cx="7143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Pick one complex analytical question your current BI stack struggles to answer. Let us connect your data sources in a secure environment.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6700" y="4710112"/>
            <a:ext cx="4038600" cy="2286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 SemiBold"/>
              </a:rPr>
              <a:t>www.tathyum.com | Enterprise Intelligence Division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4025" y="2000250"/>
            <a:ext cx="100012" cy="114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6700" y="4748212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3009900"/>
            <a:ext cx="11029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025" y="37719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7719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152775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76400" y="3159918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https://aiworkx.com/assets/hero_bg_futuristic_network.png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3393281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www.aiworkx.com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924300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76400" y="3931443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https://esdnews.com.au/wp-content/uploads/2016/11/cyberattack.jpg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6400" y="4164806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esdnews.com.au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868</Words>
  <Application>Microsoft Office PowerPoint</Application>
  <PresentationFormat>Widescreen</PresentationFormat>
  <Paragraphs>137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Inter</vt:lpstr>
      <vt:lpstr>Inter Medium</vt:lpstr>
      <vt:lpstr>Inter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Ashish Agrawal</dc:creator>
  <cp:keywords/>
  <dc:description>generated using python-pptx</dc:description>
  <cp:lastModifiedBy>Ashish Agrawal</cp:lastModifiedBy>
  <cp:revision>3</cp:revision>
  <dcterms:created xsi:type="dcterms:W3CDTF">2013-01-27T09:14:16Z</dcterms:created>
  <dcterms:modified xsi:type="dcterms:W3CDTF">2026-08-23T15:44:34Z</dcterms:modified>
  <cp:category/>
</cp:coreProperties>
</file>