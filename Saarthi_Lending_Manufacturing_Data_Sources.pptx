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1463040"/>
            <a:ext cx="5486400" cy="5486400"/>
          </a:xfrm>
          <a:prstGeom prst="ellipse">
            <a:avLst/>
          </a:prstGeom>
          <a:ln w="19050">
            <a:solidFill>
              <a:srgbClr val="2C36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640080"/>
            <a:ext cx="3840480" cy="3840480"/>
          </a:xfrm>
          <a:prstGeom prst="ellipse">
            <a:avLst/>
          </a:prstGeom>
          <a:ln w="19050">
            <a:solidFill>
              <a:srgbClr val="2C36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182880"/>
            <a:ext cx="2194560" cy="21945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331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SAARTHI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2461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Discovery &amp; Live Demo Workshop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49808" y="3886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3886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TEAM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35808" y="3886200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C975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35808" y="3886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TEAM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617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on real data sources ahead of the live demo —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schema, Excel reference files, and policy documents.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TATHYUM SOLUTIONS PRIVATE LIMITED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session before we bring Saarthi live on your data.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session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38658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confirmed before connecting Saarthi to real systems.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25496"/>
            <a:ext cx="10789920" cy="0"/>
          </a:xfrm>
          <a:prstGeom prst="line">
            <a:avLst/>
          </a:prstGeom>
          <a:noFill/>
          <a:ln w="12700">
            <a:solidFill>
              <a:srgbClr val="D8DE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4436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944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986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 model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2278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of the demo database schema for Lending and Manufacturing.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66744"/>
            <a:ext cx="10789920" cy="0"/>
          </a:xfrm>
          <a:prstGeom prst="line">
            <a:avLst/>
          </a:prstGeom>
          <a:noFill/>
          <a:ln w="12700">
            <a:solidFill>
              <a:srgbClr val="D8D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78561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785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7398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&amp; document sources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0690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reference workbooks and policy documents contain — files included.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507992"/>
            <a:ext cx="10789920" cy="0"/>
          </a:xfrm>
          <a:prstGeom prst="line">
            <a:avLst/>
          </a:prstGeom>
          <a:noFill/>
          <a:ln w="12700">
            <a:solidFill>
              <a:srgbClr val="D8DE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62686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46268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5811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sources — the ask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9103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your real systems, files and documents against this model.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349240"/>
            <a:ext cx="10789920" cy="0"/>
          </a:xfrm>
          <a:prstGeom prst="line">
            <a:avLst/>
          </a:prstGeom>
          <a:noFill/>
          <a:ln w="12700">
            <a:solidFill>
              <a:srgbClr val="D8D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4681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" y="5468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54223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Q&amp;A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575157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confirmed source and ask Saarthi real business questions.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Saarthi · Data Source Discovery Workshop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ln w="19050">
            <a:solidFill>
              <a:srgbClr val="2C36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We're Asking First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1417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“Intelligence is brought to your data — your data is never sent out for intelligence.”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233172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141B49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25877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24128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1729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day one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5204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Saarthi's schema-discovery agent works best when we already know the shape of your tables, files and documents.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44768" y="233172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141B49"/>
          </a:solidFill>
          <a:ln/>
        </p:spPr>
      </p:sp>
      <p:sp>
        <p:nvSpPr>
          <p:cNvPr id="11" name="Shape 9"/>
          <p:cNvSpPr/>
          <p:nvPr/>
        </p:nvSpPr>
        <p:spPr>
          <a:xfrm>
            <a:off x="6419088" y="25877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9088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19088" y="31729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surprise connectors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19088" y="35204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sources now avoids last-minute access requests or format mismatches during the live demo.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9808" y="438912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141B4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4128" y="46451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24128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52303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questions, right demo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55778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your real data lets us tailor demo queries to problems your teams actually face.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44768" y="438912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141B49"/>
          </a:solidFill>
          <a:ln/>
        </p:spPr>
      </p:sp>
      <p:sp>
        <p:nvSpPr>
          <p:cNvPr id="21" name="Shape 19"/>
          <p:cNvSpPr/>
          <p:nvPr/>
        </p:nvSpPr>
        <p:spPr>
          <a:xfrm>
            <a:off x="6419088" y="46451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19088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19088" y="52303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from the start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19088" y="55778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and guardrails are configured against your actual data boundaries, not a generic mock-up.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Saarthi · Data Source Discovery Workshop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Four Connector Types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17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workshop — the database, the Excel files, the policy documents — maps to a connector Saarthi already supports.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 w="12700">
            <a:solidFill>
              <a:srgbClr val="D8D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51460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Databases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0233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SAP, Oracle, SQL warehouses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219456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 w="12700">
            <a:solidFill>
              <a:srgbClr val="D8D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84448" y="251460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84448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38728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38728" y="40233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reference workbooks, CSVs, financial models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71616" y="219456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 w="12700">
            <a:solidFill>
              <a:srgbClr val="D8DE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1656" y="251460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C975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91656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345936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45936" y="40233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PDFs, SOPs, contracts, guideline docs (RAG)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78824" y="219456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 w="12700">
            <a:solidFill>
              <a:srgbClr val="D8D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98864" y="251460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5B4B8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98864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153144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Services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153144" y="40233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REST/GraphQL validation, bureau, CRM &amp; ERP calls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Saarthi · Data Source Discovery Workshop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6400800" cy="6400800"/>
          </a:xfrm>
          <a:prstGeom prst="ellipse">
            <a:avLst/>
          </a:prstGeom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822960"/>
            <a:ext cx="4389120" cy="4389120"/>
          </a:xfrm>
          <a:prstGeom prst="ellipse">
            <a:avLst/>
          </a:prstGeom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377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7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TEAM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8346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for Lending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6177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7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NBFC-style lending operation — branches, loan lifecycle, collections, credit risk and regulatory reporting.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7F1F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Data Model — 13 Tables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how data flows through a loan's life: from master records, through origination and servicing, to risk &amp; compliance reporting.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606040" cy="3611880"/>
          </a:xfrm>
          <a:prstGeom prst="roundRect">
            <a:avLst>
              <a:gd name="adj" fmla="val 2456"/>
            </a:avLst>
          </a:prstGeom>
          <a:solidFill>
            <a:srgbClr val="E7F1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210312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" y="2532888"/>
            <a:ext cx="2276856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2532888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" y="3081528"/>
            <a:ext cx="2276856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3081528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" y="3630168"/>
            <a:ext cx="2276856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630168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" y="4178808"/>
            <a:ext cx="2276856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4178808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loan_products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" y="4727448"/>
            <a:ext cx="2276856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727448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044952" y="34975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3264408" y="1965960"/>
            <a:ext cx="2606040" cy="3611880"/>
          </a:xfrm>
          <a:prstGeom prst="roundRect">
            <a:avLst>
              <a:gd name="adj" fmla="val 2456"/>
            </a:avLst>
          </a:prstGeom>
          <a:solidFill>
            <a:srgbClr val="E7F1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29000" y="210312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Lifecycle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429000" y="2532888"/>
            <a:ext cx="2276856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20440" y="2532888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loan_applications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29000" y="3081528"/>
            <a:ext cx="2276856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20440" y="3081528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29000" y="3630168"/>
            <a:ext cx="2276856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20440" y="3630168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repayment_schedule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852160" y="34975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6071616" y="1965960"/>
            <a:ext cx="2606040" cy="3611880"/>
          </a:xfrm>
          <a:prstGeom prst="roundRect">
            <a:avLst>
              <a:gd name="adj" fmla="val 2456"/>
            </a:avLst>
          </a:prstGeom>
          <a:solidFill>
            <a:srgbClr val="E7F1F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36208" y="210312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 &amp; Payables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36208" y="2532888"/>
            <a:ext cx="2276856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27648" y="2532888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36208" y="3081528"/>
            <a:ext cx="2276856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27648" y="3081528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payables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659368" y="34975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8878824" y="1965960"/>
            <a:ext cx="2606040" cy="3611880"/>
          </a:xfrm>
          <a:prstGeom prst="roundRect">
            <a:avLst>
              <a:gd name="adj" fmla="val 2456"/>
            </a:avLst>
          </a:prstGeom>
          <a:solidFill>
            <a:srgbClr val="E7F1F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043416" y="210312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9043416" y="2532888"/>
            <a:ext cx="2276856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34856" y="2532888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npa_classification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043416" y="3081528"/>
            <a:ext cx="2276856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34856" y="3081528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credit_bureau_records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043416" y="3630168"/>
            <a:ext cx="2276856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34856" y="3630168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transactions_ledger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57150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table: repayment_schedule (per-installment amortization). Key relationships: customers → loan_applications → loans → repayment_schedule / collections; loans → npa_classification &amp; payables.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· Reference Data Model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7F1F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Reference Workbooks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8132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 an NBFC keeps outside the core loan system — used to cross-check figures and to test Saarthi's spreadsheet connector.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834640"/>
                <a:gridCol w="5486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Sheet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What it contains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01_rbi_benchmark_rates.xlsx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Rates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rates + product-rate-vs-benchmark check (2 products flagged outside benchmark)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02_branch_master.xlsx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Master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roster with live employee / agent counts pulled from the 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03_agent_commission_slabs.xlsx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 Slabs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DSA / agent commission slab card by loan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04_insurance_partner_rates.xlsx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Rates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Credit-linked insurance premium rates by partner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989320"/>
            <a:ext cx="11247120" cy="548640"/>
          </a:xfrm>
          <a:prstGeom prst="roundRect">
            <a:avLst>
              <a:gd name="adj" fmla="val 10000"/>
            </a:avLst>
          </a:prstGeom>
          <a:solidFill>
            <a:srgbClr val="E7F1F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 files included with this deck:  </a:t>
            </a:r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demo_lending/output/excel/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· Excel Reference Workbooks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7F1F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&amp; Guideline Documents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8132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Practitioner-style .docx policies that feed Saarthi's unstructured-document RAG pipeline — for questions like “what DPD bucket is SMA-2?”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138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Document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Key sections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fair_practices_code.docx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&amp; processing · Appraisal &amp; sanction · Interest rate policy · Recovery practices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kyc_aml_policy.docx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risk categorisation · Accepted OVDs · Re-KYC cadence · Monitoring &amp; reporting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npa_provisioning_norms.docx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DPD-based classification (SMA / NPA) · Provisioning norms · Income recognition · Restructuring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digital_lending_guidelines.docx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disbursement &amp; repayment · Key Fact Statement · Algorithmic lending · Data privacy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grievance_redressal_policy.docx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 channels · Escalation matrix &amp; TAT · Collections-related grievances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989320"/>
            <a:ext cx="11247120" cy="548640"/>
          </a:xfrm>
          <a:prstGeom prst="roundRect">
            <a:avLst>
              <a:gd name="adj" fmla="val 10000"/>
            </a:avLst>
          </a:prstGeom>
          <a:solidFill>
            <a:srgbClr val="E7F1F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 files included with this deck:  </a:t>
            </a:r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demo_lending/output/guidelines/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· Policy &amp; Guideline Documents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7F1F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We Need From You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confirm access, ownership and refresh cadence for each of these before the live demo.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611880" cy="4297680"/>
          </a:xfrm>
          <a:prstGeom prst="roundRect">
            <a:avLst>
              <a:gd name="adj" fmla="val 1772"/>
            </a:avLst>
          </a:prstGeom>
          <a:solidFill>
            <a:srgbClr val="E7F1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194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of record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697480"/>
            <a:ext cx="164592" cy="164592"/>
          </a:xfrm>
          <a:prstGeom prst="roundRect">
            <a:avLst>
              <a:gd name="adj" fmla="val 16667"/>
            </a:avLst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6334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LMS / core lending system holds loans, applications &amp; repayment schedules?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85800" y="3374136"/>
            <a:ext cx="164592" cy="164592"/>
          </a:xfrm>
          <a:prstGeom prst="roundRect">
            <a:avLst>
              <a:gd name="adj" fmla="val 16667"/>
            </a:avLst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3101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platform — same system or separate?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85800" y="4050792"/>
            <a:ext cx="164592" cy="164592"/>
          </a:xfrm>
          <a:prstGeom prst="roundRect">
            <a:avLst>
              <a:gd name="adj" fmla="val 16667"/>
            </a:avLst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98678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Postgres/SQL Server/Oracle, or SAP? On-prem, VPC or cloud?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85800" y="4727448"/>
            <a:ext cx="164592" cy="164592"/>
          </a:xfrm>
          <a:prstGeom prst="roundRect">
            <a:avLst>
              <a:gd name="adj" fmla="val 16667"/>
            </a:avLst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663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reporting DB or replica available for Saarthi to connect to?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270248" y="2011680"/>
            <a:ext cx="3611880" cy="4297680"/>
          </a:xfrm>
          <a:prstGeom prst="roundRect">
            <a:avLst>
              <a:gd name="adj" fmla="val 1772"/>
            </a:avLst>
          </a:prstGeom>
          <a:solidFill>
            <a:srgbClr val="E7F1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98848" y="2194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&amp; documents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498848" y="2697480"/>
            <a:ext cx="164592" cy="164592"/>
          </a:xfrm>
          <a:prstGeom prst="roundRect">
            <a:avLst>
              <a:gd name="adj" fmla="val 16667"/>
            </a:avLst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73168" y="2633472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spreadsheets sit outside the LMS (rate cards, commission slabs, insurance rates)?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498848" y="3593592"/>
            <a:ext cx="164592" cy="164592"/>
          </a:xfrm>
          <a:prstGeom prst="roundRect">
            <a:avLst>
              <a:gd name="adj" fmla="val 16667"/>
            </a:avLst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73168" y="3529584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Fair Practices Code, KYC/AML, NPA/IRAC and grievance policies live today?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4498848" y="4489704"/>
            <a:ext cx="164592" cy="164592"/>
          </a:xfrm>
          <a:prstGeom prst="roundRect">
            <a:avLst>
              <a:gd name="adj" fmla="val 16667"/>
            </a:avLst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73168" y="442569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RBI/regulatory reporting templates in Excel we should mirror?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083296" y="2011680"/>
            <a:ext cx="3611880" cy="4297680"/>
          </a:xfrm>
          <a:prstGeom prst="roundRect">
            <a:avLst>
              <a:gd name="adj" fmla="val 1772"/>
            </a:avLst>
          </a:prstGeom>
          <a:solidFill>
            <a:srgbClr val="E7F1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11896" y="2194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governance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311896" y="2697480"/>
            <a:ext cx="164592" cy="164592"/>
          </a:xfrm>
          <a:prstGeom prst="roundRect">
            <a:avLst>
              <a:gd name="adj" fmla="val 16667"/>
            </a:avLst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86216" y="26334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credentials / can provision a service account?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8311896" y="3374136"/>
            <a:ext cx="164592" cy="164592"/>
          </a:xfrm>
          <a:prstGeom prst="roundRect">
            <a:avLst>
              <a:gd name="adj" fmla="val 16667"/>
            </a:avLst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86216" y="33101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roles need row/column-level RBAC (branch, product, PII fields)?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8311896" y="4050792"/>
            <a:ext cx="164592" cy="164592"/>
          </a:xfrm>
          <a:prstGeom prst="roundRect">
            <a:avLst>
              <a:gd name="adj" fmla="val 16667"/>
            </a:avLst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86216" y="398678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bureau or PAN/Aadhaar validation — API or manual lookup today?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8311896" y="4727448"/>
            <a:ext cx="164592" cy="164592"/>
          </a:xfrm>
          <a:prstGeom prst="roundRect">
            <a:avLst>
              <a:gd name="adj" fmla="val 16667"/>
            </a:avLst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586216" y="4663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refresh cadence for each source (real-time, nightly, monthly)?</a:t>
            </a:r>
            <a:endParaRPr lang="en-US" sz="1080" dirty="0"/>
          </a:p>
        </p:txBody>
      </p:sp>
      <p:sp>
        <p:nvSpPr>
          <p:cNvPr id="34" name="Text 3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· Data Sources Checklist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97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6400800" cy="6400800"/>
          </a:xfrm>
          <a:prstGeom prst="ellipse">
            <a:avLst/>
          </a:prstGeom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822960"/>
            <a:ext cx="4389120" cy="4389120"/>
          </a:xfrm>
          <a:prstGeom prst="ellipse">
            <a:avLst/>
          </a:prstGeom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377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B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TEAM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8346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for Manufacturing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6177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B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/ auto-components style operation — plants, BOM, production, quality and shop-floor equipment.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BED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Data Model — 16 Tables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how data flows through the shop floor: from master records, through procurement &amp; BOM, to production, quality and fulfillment.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606040" cy="3611880"/>
          </a:xfrm>
          <a:prstGeom prst="roundRect">
            <a:avLst>
              <a:gd name="adj" fmla="val 2456"/>
            </a:avLst>
          </a:prstGeom>
          <a:solidFill>
            <a:srgbClr val="FBED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210312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" y="2514600"/>
            <a:ext cx="227685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75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" y="251460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plants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21792" y="2880360"/>
            <a:ext cx="227685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75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" y="288036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21792" y="3246120"/>
            <a:ext cx="227685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75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" y="324612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suppliers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21792" y="3611880"/>
            <a:ext cx="227685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75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" y="361188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machines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21792" y="3977640"/>
            <a:ext cx="227685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75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" y="397764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621792" y="4343400"/>
            <a:ext cx="227685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75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" y="434340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raw_materials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621792" y="4709160"/>
            <a:ext cx="227685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75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" y="470916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sz="930" dirty="0"/>
          </a:p>
        </p:txBody>
      </p:sp>
      <p:sp>
        <p:nvSpPr>
          <p:cNvPr id="22" name="Text 20"/>
          <p:cNvSpPr txBox="1"/>
          <p:nvPr/>
        </p:nvSpPr>
        <p:spPr>
          <a:xfrm>
            <a:off x="3044952" y="34975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7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3264408" y="1965960"/>
            <a:ext cx="2606040" cy="3611880"/>
          </a:xfrm>
          <a:prstGeom prst="roundRect">
            <a:avLst>
              <a:gd name="adj" fmla="val 2456"/>
            </a:avLst>
          </a:prstGeom>
          <a:solidFill>
            <a:srgbClr val="FBED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429000" y="210312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BOM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429000" y="2514600"/>
            <a:ext cx="227685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975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02152" y="2514600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bill_of_materials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29000" y="3063240"/>
            <a:ext cx="227685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9752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02152" y="3063240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purchase_orders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852160" y="34975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7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6071616" y="1965960"/>
            <a:ext cx="2606040" cy="3611880"/>
          </a:xfrm>
          <a:prstGeom prst="roundRect">
            <a:avLst>
              <a:gd name="adj" fmla="val 2456"/>
            </a:avLst>
          </a:prstGeom>
          <a:solidFill>
            <a:srgbClr val="FBEDE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36208" y="210312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Quality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36208" y="2514600"/>
            <a:ext cx="227685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9752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09360" y="2514600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production_orders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36208" y="3063240"/>
            <a:ext cx="227685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9752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09360" y="3063240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production_log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36208" y="3611880"/>
            <a:ext cx="227685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975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09360" y="3611880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machine_downtime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36208" y="4160520"/>
            <a:ext cx="227685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9752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09360" y="4160520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quality_inspection_records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8659368" y="34975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7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41" name="Shape 39"/>
          <p:cNvSpPr/>
          <p:nvPr/>
        </p:nvSpPr>
        <p:spPr>
          <a:xfrm>
            <a:off x="8878824" y="1965960"/>
            <a:ext cx="2606040" cy="3611880"/>
          </a:xfrm>
          <a:prstGeom prst="roundRect">
            <a:avLst>
              <a:gd name="adj" fmla="val 2456"/>
            </a:avLst>
          </a:prstGeom>
          <a:solidFill>
            <a:srgbClr val="FBEDE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043416" y="210312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&amp; Finance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9043416" y="2514600"/>
            <a:ext cx="227685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9752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16568" y="2514600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shipments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043416" y="3063240"/>
            <a:ext cx="227685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9752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116568" y="3063240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payables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043416" y="3611880"/>
            <a:ext cx="227685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9752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116568" y="3611880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transactions_ledger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57150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table: production_log (per-day, per-shift shop-floor tracking). Key relationships: products ↔ raw_materials via bill_of_materials; customers → production_orders → production_log / shipments; machines → machine_downtime.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· Reference Data Model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BED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Reference Workbooks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8132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 a factory keeps outside the core ERP/MES — used to cross-check figures and to test Saarthi's spreadsheet connector.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834640"/>
                <a:gridCol w="5486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Sheet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What it contains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5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01_raw_material_price_benchmarks.xlsx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Benchmarks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Commodity index snapshot + price-vs-benchmark check (2 materials flagged above market)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02_plant_master.xlsx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 Master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 roster with live employee / machine counts pulled from the 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03_vendor_rating_card.xlsx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Rating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empanelment tiers and scorecard weightage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04_machine_maintenance_schedule.xlsx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Schedule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Preventive-maintenance interval reference by machine type, with live fleet counts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989320"/>
            <a:ext cx="11247120" cy="548640"/>
          </a:xfrm>
          <a:prstGeom prst="roundRect">
            <a:avLst>
              <a:gd name="adj" fmla="val 10000"/>
            </a:avLst>
          </a:prstGeom>
          <a:solidFill>
            <a:srgbClr val="FBEDE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 files included with this deck:  </a:t>
            </a:r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demo_manufacturing/output/excel/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· Excel Reference Workbooks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BED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&amp; Guideline Documents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8132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Practitioner-style .docx policies that feed Saarthi's unstructured-document RAG pipeline — for questions like “what's the PM frequency for a CNC lathe?”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138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Document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Key sections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5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quality_management_policy.docx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 stages · Sampling &amp; acceptance criteria · Non-conformance &amp; CAPA · Management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ehs_safety_policy.docx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PPE · Machine safety &amp; lockout-tagout · Incident reporting · Fire &amp; emergency preparedness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vendor_management_policy.docx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empanelment · Performance evaluation · PO governance · Payment terms &amp; exit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equipment_maintenance_policy.docx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categories · PM scheduling · Breakdown criticality · Calibration · Spares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environmental_compliance_policy.docx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 classification · Emissions &amp; effluent monitoring · Energy efficiency · Consents &amp; renewals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989320"/>
            <a:ext cx="11247120" cy="548640"/>
          </a:xfrm>
          <a:prstGeom prst="roundRect">
            <a:avLst>
              <a:gd name="adj" fmla="val 10000"/>
            </a:avLst>
          </a:prstGeom>
          <a:solidFill>
            <a:srgbClr val="FBEDE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 files included with this deck:  </a:t>
            </a:r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demo_manufacturing/output/guidelines/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· Policy &amp; Guideline Documents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BED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We Need From You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confirm access, ownership and refresh cadence for each of these before the live demo.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611880" cy="4297680"/>
          </a:xfrm>
          <a:prstGeom prst="roundRect">
            <a:avLst>
              <a:gd name="adj" fmla="val 1772"/>
            </a:avLst>
          </a:prstGeom>
          <a:solidFill>
            <a:srgbClr val="FBED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194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of record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697480"/>
            <a:ext cx="164592" cy="164592"/>
          </a:xfrm>
          <a:prstGeom prst="roundRect">
            <a:avLst>
              <a:gd name="adj" fmla="val 16667"/>
            </a:avLst>
          </a:prstGeom>
          <a:ln w="15875">
            <a:solidFill>
              <a:srgbClr val="C975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6334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ERP/MES holds production orders, BOM and shop-floor logs?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85800" y="3374136"/>
            <a:ext cx="164592" cy="164592"/>
          </a:xfrm>
          <a:prstGeom prst="roundRect">
            <a:avLst>
              <a:gd name="adj" fmla="val 16667"/>
            </a:avLst>
          </a:prstGeom>
          <a:ln w="15875">
            <a:solidFill>
              <a:srgbClr val="C975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3101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quality-inspection data captured in the same system or a separate QMS?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85800" y="4050792"/>
            <a:ext cx="164592" cy="164592"/>
          </a:xfrm>
          <a:prstGeom prst="roundRect">
            <a:avLst>
              <a:gd name="adj" fmla="val 16667"/>
            </a:avLst>
          </a:prstGeom>
          <a:ln w="15875">
            <a:solidFill>
              <a:srgbClr val="C975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98678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platform (SAP, Oracle, Postgres, SQL Server)? On-prem, VPC or cloud?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85800" y="4727448"/>
            <a:ext cx="164592" cy="164592"/>
          </a:xfrm>
          <a:prstGeom prst="roundRect">
            <a:avLst>
              <a:gd name="adj" fmla="val 16667"/>
            </a:avLst>
          </a:prstGeom>
          <a:ln w="15875">
            <a:solidFill>
              <a:srgbClr val="C975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663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reporting DB or replica available for Saarthi to connect to?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270248" y="2011680"/>
            <a:ext cx="3611880" cy="4297680"/>
          </a:xfrm>
          <a:prstGeom prst="roundRect">
            <a:avLst>
              <a:gd name="adj" fmla="val 1772"/>
            </a:avLst>
          </a:prstGeom>
          <a:solidFill>
            <a:srgbClr val="FBED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98848" y="2194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&amp; documents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498848" y="2697480"/>
            <a:ext cx="164592" cy="164592"/>
          </a:xfrm>
          <a:prstGeom prst="roundRect">
            <a:avLst>
              <a:gd name="adj" fmla="val 16667"/>
            </a:avLst>
          </a:prstGeom>
          <a:ln w="15875">
            <a:solidFill>
              <a:srgbClr val="C975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73168" y="2633472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spreadsheets sit outside the ERP (price benchmarks, vendor scorecards, PM schedules)?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498848" y="3593592"/>
            <a:ext cx="164592" cy="164592"/>
          </a:xfrm>
          <a:prstGeom prst="roundRect">
            <a:avLst>
              <a:gd name="adj" fmla="val 16667"/>
            </a:avLst>
          </a:prstGeom>
          <a:ln w="15875">
            <a:solidFill>
              <a:srgbClr val="C975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73168" y="352958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Quality, EHS, Vendor and Equipment Maintenance policies live today?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4498848" y="4270248"/>
            <a:ext cx="164592" cy="164592"/>
          </a:xfrm>
          <a:prstGeom prst="roundRect">
            <a:avLst>
              <a:gd name="adj" fmla="val 16667"/>
            </a:avLst>
          </a:prstGeom>
          <a:ln w="15875">
            <a:solidFill>
              <a:srgbClr val="C975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73168" y="4206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customer / regulatory compliance templates in Excel we should mirror?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083296" y="2011680"/>
            <a:ext cx="3611880" cy="4297680"/>
          </a:xfrm>
          <a:prstGeom prst="roundRect">
            <a:avLst>
              <a:gd name="adj" fmla="val 1772"/>
            </a:avLst>
          </a:prstGeom>
          <a:solidFill>
            <a:srgbClr val="FBEDE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11896" y="2194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governance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311896" y="2697480"/>
            <a:ext cx="164592" cy="164592"/>
          </a:xfrm>
          <a:prstGeom prst="roundRect">
            <a:avLst>
              <a:gd name="adj" fmla="val 16667"/>
            </a:avLst>
          </a:prstGeom>
          <a:ln w="15875">
            <a:solidFill>
              <a:srgbClr val="C975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86216" y="26334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credentials / can provision a service account?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8311896" y="3374136"/>
            <a:ext cx="164592" cy="164592"/>
          </a:xfrm>
          <a:prstGeom prst="roundRect">
            <a:avLst>
              <a:gd name="adj" fmla="val 16667"/>
            </a:avLst>
          </a:prstGeom>
          <a:ln w="15875">
            <a:solidFill>
              <a:srgbClr val="C975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86216" y="33101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roles need row/column-level RBAC (plant, cost data, supplier terms)?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8311896" y="4050792"/>
            <a:ext cx="164592" cy="164592"/>
          </a:xfrm>
          <a:prstGeom prst="roundRect">
            <a:avLst>
              <a:gd name="adj" fmla="val 16667"/>
            </a:avLst>
          </a:prstGeom>
          <a:ln w="15875">
            <a:solidFill>
              <a:srgbClr val="C975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86216" y="398678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health / IoT telemetry — API, historian, or manual logs today?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8311896" y="4727448"/>
            <a:ext cx="164592" cy="164592"/>
          </a:xfrm>
          <a:prstGeom prst="roundRect">
            <a:avLst>
              <a:gd name="adj" fmla="val 16667"/>
            </a:avLst>
          </a:prstGeom>
          <a:ln w="15875">
            <a:solidFill>
              <a:srgbClr val="C9752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586216" y="4663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refresh cadence for each source (real-time, shift-end, nightly)?</a:t>
            </a:r>
            <a:endParaRPr lang="en-US" sz="1080" dirty="0"/>
          </a:p>
        </p:txBody>
      </p:sp>
      <p:sp>
        <p:nvSpPr>
          <p:cNvPr id="34" name="Text 3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· Data Sources Checklist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828800"/>
            <a:ext cx="5943600" cy="5943600"/>
          </a:xfrm>
          <a:prstGeom prst="ellipse">
            <a:avLst/>
          </a:prstGeom>
          <a:ln w="19050">
            <a:solidFill>
              <a:srgbClr val="2C36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Plan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1325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sources are confirmed, here's exactly what happens on demo day.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214884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141B49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377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3375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Saarthi at the confirmed DB / Excel / document sources for each team.</a:t>
            </a:r>
            <a:endParaRPr lang="en-US" sz="1080" dirty="0"/>
          </a:p>
        </p:txBody>
      </p:sp>
      <p:sp>
        <p:nvSpPr>
          <p:cNvPr id="10" name="Text 8"/>
          <p:cNvSpPr txBox="1"/>
          <p:nvPr/>
        </p:nvSpPr>
        <p:spPr>
          <a:xfrm>
            <a:off x="2807208" y="33832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017520" y="214884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141B49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0" y="2377440"/>
            <a:ext cx="457200" cy="457200"/>
          </a:xfrm>
          <a:prstGeom prst="ellipse">
            <a:avLst/>
          </a:prstGeom>
          <a:solidFill>
            <a:srgbClr val="C975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004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33375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Metamind schema discovery auto-maps tables, columns and relationships — no manual mapping.</a:t>
            </a:r>
            <a:endParaRPr lang="en-US" sz="108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33832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285232" y="214884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141B49"/>
          </a:solidFill>
          <a:ln/>
        </p:spPr>
      </p:sp>
      <p:sp>
        <p:nvSpPr>
          <p:cNvPr id="18" name="Shape 16"/>
          <p:cNvSpPr/>
          <p:nvPr/>
        </p:nvSpPr>
        <p:spPr>
          <a:xfrm>
            <a:off x="5468112" y="2377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68112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68112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468112" y="33375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and guardrails applied against real roles, so every user sees only what they're entitled to.</a:t>
            </a:r>
            <a:endParaRPr lang="en-US" sz="1080" dirty="0"/>
          </a:p>
        </p:txBody>
      </p:sp>
      <p:sp>
        <p:nvSpPr>
          <p:cNvPr id="22" name="Text 20"/>
          <p:cNvSpPr txBox="1"/>
          <p:nvPr/>
        </p:nvSpPr>
        <p:spPr>
          <a:xfrm>
            <a:off x="7342632" y="33832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552944" y="214884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141B49"/>
          </a:solidFill>
          <a:ln/>
        </p:spPr>
      </p:sp>
      <p:sp>
        <p:nvSpPr>
          <p:cNvPr id="24" name="Shape 22"/>
          <p:cNvSpPr/>
          <p:nvPr/>
        </p:nvSpPr>
        <p:spPr>
          <a:xfrm>
            <a:off x="7735824" y="2377440"/>
            <a:ext cx="457200" cy="457200"/>
          </a:xfrm>
          <a:prstGeom prst="ellipse">
            <a:avLst/>
          </a:prstGeom>
          <a:solidFill>
            <a:srgbClr val="C975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35824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735824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7735824" y="33375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asks one real business question in plain language — no SQL, no BI tool.</a:t>
            </a:r>
            <a:endParaRPr lang="en-US" sz="1080" dirty="0"/>
          </a:p>
        </p:txBody>
      </p:sp>
      <p:sp>
        <p:nvSpPr>
          <p:cNvPr id="28" name="Text 26"/>
          <p:cNvSpPr txBox="1"/>
          <p:nvPr/>
        </p:nvSpPr>
        <p:spPr>
          <a:xfrm>
            <a:off x="9610344" y="33832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820656" y="214884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141B49"/>
          </a:solidFill>
          <a:ln/>
        </p:spPr>
      </p:sp>
      <p:sp>
        <p:nvSpPr>
          <p:cNvPr id="30" name="Shape 28"/>
          <p:cNvSpPr/>
          <p:nvPr/>
        </p:nvSpPr>
        <p:spPr>
          <a:xfrm>
            <a:off x="10003536" y="2377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003536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0003536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10003536" y="33375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open the reasoning log together: source data, query, and lineage behind the answer.</a:t>
            </a:r>
            <a:endParaRPr lang="en-US" sz="1080" dirty="0"/>
          </a:p>
        </p:txBody>
      </p:sp>
      <p:sp>
        <p:nvSpPr>
          <p:cNvPr id="34" name="Text 32"/>
          <p:cNvSpPr txBox="1"/>
          <p:nvPr/>
        </p:nvSpPr>
        <p:spPr>
          <a:xfrm>
            <a:off x="749808" y="5349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with one complex analytical question your current reporting stack struggles to answer — that's the question we'll put to Saarthi live.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Saarthi · Live Demo Plan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back from each team before we schedule the live demo.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systems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3500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with your real DB / ERP / LMS connection details (or a sandbox/replica) and the file locations for spreadsheets &amp; policy docs.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10789920" cy="0"/>
          </a:xfrm>
          <a:prstGeom prst="line">
            <a:avLst/>
          </a:prstGeom>
          <a:noFill/>
          <a:ln w="12700">
            <a:solidFill>
              <a:srgbClr val="D8DE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26080"/>
            <a:ext cx="548640" cy="548640"/>
          </a:xfrm>
          <a:prstGeom prst="ellipse">
            <a:avLst/>
          </a:prstGeom>
          <a:solidFill>
            <a:srgbClr val="C975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80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access owner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2186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of contact per team who can provision read access / a service account.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10789920" cy="0"/>
          </a:xfrm>
          <a:prstGeom prst="line">
            <a:avLst/>
          </a:prstGeom>
          <a:noFill/>
          <a:ln w="12700">
            <a:solidFill>
              <a:srgbClr val="D8D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7947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demo question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087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business question your current BI/reporting can't answer quickly — this drives the live walkthrough.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10789920" cy="0"/>
          </a:xfrm>
          <a:prstGeom prst="line">
            <a:avLst/>
          </a:prstGeom>
          <a:noFill/>
          <a:ln w="12700">
            <a:solidFill>
              <a:srgbClr val="D8DE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663440"/>
            <a:ext cx="548640" cy="548640"/>
          </a:xfrm>
          <a:prstGeom prst="ellipse">
            <a:avLst/>
          </a:prstGeom>
          <a:solidFill>
            <a:srgbClr val="C975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617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the demo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9560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confirm a date once sources and the question are in hand.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80644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58064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TATHYUM SOLUTIONS PRIVATE LIMITED 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www.tathyum.com  |  Enterprise Intelligence Division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Saarthi · Next Steps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Tathyum Solutions Private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Tathyum Solutions</dc:creator>
  <cp:lastModifiedBy>Tathyum Solutions</cp:lastModifiedBy>
  <cp:revision>1</cp:revision>
  <dcterms:created xsi:type="dcterms:W3CDTF">2026-09-15T16:42:28Z</dcterms:created>
  <dcterms:modified xsi:type="dcterms:W3CDTF">2026-09-15T16:42:28Z</dcterms:modified>
</cp:coreProperties>
</file>